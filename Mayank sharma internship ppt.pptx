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4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D37DD-1BD1-4C0C-9BC9-97C203247EDB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95C8C-6A56-4FDB-860A-7416896AB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358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509760" y="548640"/>
            <a:ext cx="1097280" cy="27432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822960"/>
            <a:ext cx="548640" cy="91440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48640"/>
            <a:ext cx="822960" cy="82296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371600"/>
            <a:ext cx="91440" cy="100584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737360"/>
            <a:ext cx="731520" cy="45720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1737360"/>
            <a:ext cx="1463040" cy="64008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2377440"/>
            <a:ext cx="822960" cy="45720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0" y="2194560"/>
            <a:ext cx="1371600" cy="64008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0" y="548640"/>
            <a:ext cx="914400" cy="182880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54896" y="76809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52176" y="4937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75136" y="131673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03536" y="168249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66576" y="23225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9272016" y="213969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43616" y="27797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65220" y="548640"/>
            <a:ext cx="2461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65220" y="868680"/>
            <a:ext cx="2461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502920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17324A"/>
          </a:solidFill>
          <a:ln w="12700">
            <a:solidFill>
              <a:srgbClr val="2E5F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5029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LEARNING 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32520" y="91440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3223B"/>
          </a:solidFill>
          <a:ln w="12700">
            <a:solidFill>
              <a:srgbClr val="2E4C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32520" y="9144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VIRTUAL INTERNSHIP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2788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3832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2245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Internship Presentation Report on the Foundations, Reasoning Methods, and Applications of Artificial Intelligence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623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ORGANIZATION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704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Kodacy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5623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58704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Artificial Intelligence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5623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58704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Sharma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2410031163   |   Section: 3CSE24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5623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E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869680" y="58704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September, 2026</a:t>
            </a:r>
            <a:endParaRPr lang="en-US" sz="1150" dirty="0"/>
          </a:p>
        </p:txBody>
      </p:sp>
      <p:sp>
        <p:nvSpPr>
          <p:cNvPr id="38" name="Rectangle 37"/>
          <p:cNvSpPr/>
          <p:nvPr/>
        </p:nvSpPr>
        <p:spPr>
          <a:xfrm>
            <a:off x="274320" y="167640"/>
            <a:ext cx="3238500" cy="15697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Kodacy • AICTE Virtual Internship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Internship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candidate details, internship engagement, and the core learning track.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AF1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50592"/>
            <a:ext cx="457200" cy="457200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68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Track Details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Name:  </a:t>
            </a: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Sharma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410712"/>
            <a:ext cx="470916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456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 </a:t>
            </a: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2410031163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803904"/>
            <a:ext cx="470916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49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3CSE24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197096"/>
            <a:ext cx="470916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2428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Organization:  </a:t>
            </a: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Kodacy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590288"/>
            <a:ext cx="470916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636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Artificial Intelligence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4983480"/>
            <a:ext cx="470916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Mode:  </a:t>
            </a: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Virtual Mode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5376672"/>
            <a:ext cx="470916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422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5769864"/>
            <a:ext cx="470916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21488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5392" y="245059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65392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59752" y="2468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Focus Areas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83680" y="3108960"/>
            <a:ext cx="146304" cy="146304"/>
          </a:xfrm>
          <a:prstGeom prst="ellipse">
            <a:avLst/>
          </a:prstGeom>
          <a:solidFill>
            <a:srgbClr val="E4F9F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308152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9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 &amp; Intelligent Agents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3547872"/>
            <a:ext cx="146304" cy="146304"/>
          </a:xfrm>
          <a:prstGeom prst="ellipse">
            <a:avLst/>
          </a:prstGeom>
          <a:solidFill>
            <a:srgbClr val="E4F9F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3520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9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through Search &amp; Heuristics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3986784"/>
            <a:ext cx="146304" cy="146304"/>
          </a:xfrm>
          <a:prstGeom prst="ellipse">
            <a:avLst/>
          </a:prstGeom>
          <a:solidFill>
            <a:srgbClr val="E4F9F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0" y="39593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9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 &amp; Logical Reasoning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4425696"/>
            <a:ext cx="146304" cy="146304"/>
          </a:xfrm>
          <a:prstGeom prst="ellipse">
            <a:avLst/>
          </a:prstGeom>
          <a:solidFill>
            <a:srgbClr val="E4F9F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0" y="43982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9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4334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Probability-Based Decision Making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4864608"/>
            <a:ext cx="146304" cy="146304"/>
          </a:xfrm>
          <a:prstGeom prst="ellipse">
            <a:avLst/>
          </a:prstGeom>
          <a:solidFill>
            <a:srgbClr val="E4F9F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0" y="48371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9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4773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Machine Learning Concepts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5303520"/>
            <a:ext cx="146304" cy="146304"/>
          </a:xfrm>
          <a:prstGeom prst="ellipse">
            <a:avLst/>
          </a:prstGeom>
          <a:solidFill>
            <a:srgbClr val="E4F9F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83680" y="52760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9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Applications, Ethics &amp; Responsible AI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CURRICULUM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Kodacy • Structured Learning 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Profile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learning framework provided by Kodacy for building a strong foundation in AI.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120640" cy="3886200"/>
          </a:xfrm>
          <a:prstGeom prst="roundRect">
            <a:avLst>
              <a:gd name="adj" fmla="val 188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87168"/>
            <a:ext cx="438912" cy="438912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14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Learning Experience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46120"/>
            <a:ext cx="4434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offered a well-structured curriculum introducing the core ideas of Artificial Intelligence — from intelligent agents and search-based problem solving to knowledge representation, basic learning models, and real-world AI applications.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guided modules and conceptual case studies, the programme connected classical AI theory with the way modern intelligent systems are designed and reasoned about.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2194560"/>
            <a:ext cx="56235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322576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26771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5603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3017520"/>
            <a:ext cx="56235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3145536"/>
            <a:ext cx="438912" cy="438912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0906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Reasoning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3832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3840480"/>
            <a:ext cx="56235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968496"/>
            <a:ext cx="438912" cy="438912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3968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91363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Decisions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4206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Thinking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4663440"/>
            <a:ext cx="56235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4791456"/>
            <a:ext cx="438912" cy="438912"/>
          </a:xfrm>
          <a:prstGeom prst="ellipse">
            <a:avLst/>
          </a:prstGeom>
          <a:solidFill>
            <a:srgbClr val="1FA3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72200" y="4791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73659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Machine Learning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029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5486400"/>
            <a:ext cx="56235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5614416"/>
            <a:ext cx="438912" cy="43891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5614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55595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58521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Vision &amp; Chatbots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Competency Pillars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Learning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technical pillars established for the Introduction to AI internship.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673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the history, definitions, classifications, and real-world scope of Artificial Intelligence.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9856" y="2286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8456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C48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48456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&amp; Search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48456" y="37673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intelligent agents, state-space representation, and heuristic search strategies.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1072" y="2286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9672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6D5B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967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Logic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7673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knowledge representation, inference, and rule-based expert systems.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62288" y="2286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FA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9088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&amp; Ethics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7673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basic ML concepts alongside AI applications and responsible AI practice.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• AI PRINCIPLES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Domain Theory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intelligence in machines, its evolution, and the two ways AI is classified.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the branch of computer science concerned with building systems that can perceive, reason, learn, and act to achieve goals — tasks that would normally require human intelligence.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AI vs. General AI (AGI)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performs a specific task well (voice assistants, recommendation engines). General AI, still theoretical, would match human-level reasoning across any domain.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AI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2697480"/>
            <a:ext cx="0" cy="3063240"/>
          </a:xfrm>
          <a:prstGeom prst="line">
            <a:avLst/>
          </a:prstGeom>
          <a:noFill/>
          <a:ln w="25400">
            <a:solidFill>
              <a:srgbClr val="D7E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2706624"/>
            <a:ext cx="128016" cy="12801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596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25786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“Artificial Intelligence” coined at the Dartmouth Conference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73952" y="3346704"/>
            <a:ext cx="128016" cy="12801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21868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expert systems and rule-based reasoning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73952" y="3986784"/>
            <a:ext cx="128016" cy="12801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877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8587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defeats a reigning world chess champion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73952" y="4626864"/>
            <a:ext cx="128016" cy="12801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4988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breakthroughs revive neural networks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73952" y="5266944"/>
            <a:ext cx="128016" cy="12801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5157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51389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and large language models go mainstream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• SEARCH &amp; REASONING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Algorithmic Strategy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Problem Solving: Agents &amp; 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intelligent agent perceives a problem and searches for an optimal solution.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65199" y="2331720"/>
            <a:ext cx="585216" cy="585216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65199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2783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definition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446934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83534" y="2331720"/>
            <a:ext cx="585216" cy="585216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83534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58414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58414" y="322783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 states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665269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01868" y="2331720"/>
            <a:ext cx="585216" cy="585216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1868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76749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76749" y="322783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&amp; tree search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883603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20202" y="2331720"/>
            <a:ext cx="585216" cy="585216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20202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295083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95083" y="322783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options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01938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238537" y="2331720"/>
            <a:ext cx="585216" cy="585216"/>
          </a:xfrm>
          <a:prstGeom prst="ellipse">
            <a:avLst/>
          </a:prstGeom>
          <a:solidFill>
            <a:srgbClr val="1FA3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38537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513418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Solution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513418" y="322783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achieved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61188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8680" y="3886200"/>
            <a:ext cx="420624" cy="420624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868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Intelligent Agents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Reflex Agents — act only on the current percept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818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Goal-Based Agents — act to achieve a defined goal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5202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Utility-Based Agents — choose the best outcome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68680" y="55869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Agents — improve performance over time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45352" y="361188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65392" y="3886200"/>
            <a:ext cx="420624" cy="420624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65392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114032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Decision Techniques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6565392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State-space representation &amp; graph traversal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565392" y="4818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Minimax algorithm for adversarial games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565392" y="5202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Probability, conditional likelihood &amp; Bayes’ Theorem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565392" y="55869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Naive Bayes for simple classification tasks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• COGNITION &amp; SYSTEMS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Domain Theory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Representation &amp; Reasoning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systems store, structure, and reason over what they know.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78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Representation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networks, frames, and structured schemes for storing facts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22860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2560320"/>
            <a:ext cx="502920" cy="502920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37376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23176" y="2578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Reasoning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246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Propositional and rule-based logic used to draw valid conclusions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71416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745736"/>
            <a:ext cx="502920" cy="502920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64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43153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inference engines that mimic domain-expert decision making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63056" y="4471416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7376" y="4745736"/>
            <a:ext cx="502920" cy="502920"/>
          </a:xfrm>
          <a:prstGeom prst="ellipse">
            <a:avLst/>
          </a:prstGeom>
          <a:solidFill>
            <a:srgbClr val="1FA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7376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123176" y="4764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&amp; Responsible AI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543153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exposure to fairness, transparency, and accountability in AI design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• A GLIMPSE BEYOND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Machine Learning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Machine Learning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look at how machines learn patterns from data — the natural next step after classical AI.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79067" y="2359152"/>
            <a:ext cx="512064" cy="512064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79067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45536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collection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047238" y="23957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51985" y="2359152"/>
            <a:ext cx="512064" cy="512064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51985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12998" y="292608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Study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12998" y="3145536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labels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820156" y="23957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4903" y="2359152"/>
            <a:ext cx="512064" cy="512064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4903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85916" y="292608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85916" y="3145536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patterns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593074" y="23957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97821" y="2359152"/>
            <a:ext cx="512064" cy="512064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97821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58834" y="292608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58834" y="3145536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inference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3931920"/>
            <a:ext cx="420624" cy="420624"/>
          </a:xfrm>
          <a:prstGeom prst="ellipse">
            <a:avLst/>
          </a:prstGeom>
          <a:solidFill>
            <a:srgbClr val="1FA3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3950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Paradigms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Supervised Learning — learns from labeled examples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864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Unsupervised Learning — finds hidden patterns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2486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Reinforcement Learning — learns via trial and reward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5632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&amp; Logistic Regression as starting models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45352" y="3657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65392" y="3931920"/>
            <a:ext cx="420624" cy="420624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65392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114032" y="3950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AI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6565392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Gives AI systems the ability to improve with experience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565392" y="4864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Powers modern applications like recommendations &amp; vision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565392" y="52486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Foundation for deep learning and neural networks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565392" y="5632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natural next step after classical, rule-based AI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• APPLIED INTELLIGENCE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Contemporary Tech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Artificial Intelligence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concepts studied show up in everyday intelligent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01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sentiment analysis, and language understanding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423160"/>
            <a:ext cx="457200" cy="457200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401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classification, object detection &amp; face recognition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423160"/>
            <a:ext cx="457200" cy="457200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401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&amp; LLM-driven chatbot architectures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1FA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29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Industry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413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support, automation &amp; assistive AI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4434840"/>
            <a:ext cx="457200" cy="457200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029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5413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 across e-commerce &amp; media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44348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753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29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Safety &amp; Governance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413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deployment and ethical oversight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8-Stage Learning Progression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AI Learning Journey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curriculum progression traversed throughout the internship at Kodacy.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468880"/>
            <a:ext cx="384048" cy="384048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71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Fundamentals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6499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definitions &amp;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46704" y="228600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468880"/>
            <a:ext cx="384048" cy="384048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971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Agents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36499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types &amp; environments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4768" y="228600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2468880"/>
            <a:ext cx="384048" cy="384048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45936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971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Strategies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336499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&amp; heuristics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2832" y="228600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2468880"/>
            <a:ext cx="384048" cy="384048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971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&amp; Bayes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336499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decision making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480560"/>
            <a:ext cx="384048" cy="384048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9834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Logic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537667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&amp; reasoning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46704" y="429768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47872" y="4480560"/>
            <a:ext cx="384048" cy="384048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47872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49834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547872" y="537667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inference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429768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45936" y="4480560"/>
            <a:ext cx="384048" cy="384048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45936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45936" y="49834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 to ML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345936" y="537667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paradigms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42832" y="429768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44000" y="4480560"/>
            <a:ext cx="384048" cy="384048"/>
          </a:xfrm>
          <a:prstGeom prst="ellipse">
            <a:avLst/>
          </a:prstGeom>
          <a:solidFill>
            <a:srgbClr val="1FA37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14400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0" y="49834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Ethics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5376672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&amp; governance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Core Skills Acquired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Knowledge Developed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conceptual understanding and analytical skills gained across the internship.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649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intelligent systems, history and the narrow-vs-general AI divide.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423160"/>
            <a:ext cx="438912" cy="438912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Problem Solving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3649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State-space search, heuristics, and adversarial game strategies.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423160"/>
            <a:ext cx="438912" cy="438912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&amp; Bayes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3649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probability, Bayes’ theorem, and simple probabilistic classifiers.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480560"/>
            <a:ext cx="438912" cy="438912"/>
          </a:xfrm>
          <a:prstGeom prst="ellipse">
            <a:avLst/>
          </a:prstGeom>
          <a:solidFill>
            <a:srgbClr val="1FA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480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56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Logic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422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schemes, logical inference, and expert-system design.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4251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4480560"/>
            <a:ext cx="438912" cy="43891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4480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056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Fundamentals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5422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and reinforcement learning at a conceptual level.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4251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4480560"/>
            <a:ext cx="438912" cy="43891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75320" y="4480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56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Applications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422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responsible AI practice across NLP, vision and automation.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Academic Internship Takeaways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Experience &amp; 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summary of academic growth, practical insight, and future learning pathways.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420624" cy="420624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87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Internship Reflections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Introduction to AI virtual internship provided a structured, disciplined introduction to how intelligent systems are designed and reasoned about.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programme, I explored agent-based problem solving, search and probability, knowledge representation, and a first look at how machines learn from data — alongside the ethical questions modern AI raises.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98348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0749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Value:  </a:t>
            </a:r>
            <a:r>
              <a:rPr lang="en-US" sz="115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strong conceptual foundation in AI for future coursework and applied ML projects.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2194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6233F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65392" y="2468880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65392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487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Learning Pathways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3017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990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model building using Python &amp; scikit-learn.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931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904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Foundations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224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networks, CNNs and RNNs for vision and language.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4846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8188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&amp; Generative AI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engineering, LLMs and responsible deployment.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r>
              <a:rPr lang="en-US" sz="1100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Verification &amp; Records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certificate awarded by Kodacy under the AICTE Virtual Internship Programme.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480560" cy="3749040"/>
          </a:xfrm>
          <a:prstGeom prst="roundRect">
            <a:avLst>
              <a:gd name="adj" fmla="val 1951"/>
            </a:avLst>
          </a:prstGeom>
          <a:solidFill>
            <a:srgbClr val="F5F8FC"/>
          </a:solidFill>
          <a:ln w="12700">
            <a:solidFill>
              <a:srgbClr val="E1E8F2"/>
            </a:solidFill>
            <a:prstDash val="solid"/>
          </a:ln>
          <a:effectLst>
            <a:outerShdw blurRad="101600" dist="254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420624" cy="420624"/>
          </a:xfrm>
          <a:prstGeom prst="ellipse">
            <a:avLst/>
          </a:prstGeom>
          <a:solidFill>
            <a:srgbClr val="2C48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87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Details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To:  </a:t>
            </a: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Sharma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529584"/>
            <a:ext cx="388620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 </a:t>
            </a: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032504"/>
            <a:ext cx="388620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535424"/>
            <a:ext cx="388620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 </a:t>
            </a: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Virtual Internship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038344"/>
            <a:ext cx="388620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212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r>
              <a:rPr lang="en-US" sz="1200" b="1" dirty="0">
                <a:solidFill>
                  <a:srgbClr val="1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541264"/>
            <a:ext cx="3886200" cy="0"/>
          </a:xfrm>
          <a:prstGeom prst="line">
            <a:avLst/>
          </a:prstGeom>
          <a:noFill/>
          <a:ln w="9525">
            <a:solidFill>
              <a:srgbClr val="D7E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2286000"/>
            <a:ext cx="6291072" cy="374904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9050">
            <a:solidFill>
              <a:srgbClr val="E1E8F2"/>
            </a:solidFill>
            <a:prstDash val="solid"/>
          </a:ln>
          <a:effectLst>
            <a:outerShdw blurRad="127000" dist="25400" dir="5400000" algn="bl" rotWithShape="0">
              <a:srgbClr val="1B2433">
                <a:alpha val="15000"/>
              </a:srgbClr>
            </a:outerShdw>
          </a:effectLst>
        </p:spPr>
      </p:sp>
      <p:pic>
        <p:nvPicPr>
          <p:cNvPr id="20" name="Image 0" descr="/home/claude/work/cer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404872"/>
            <a:ext cx="6053328" cy="351129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|  Kodacy • AICTE Virtual Internship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0" y="6537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14400" y="640080"/>
            <a:ext cx="1097280" cy="27432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365760" cy="82296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640080"/>
            <a:ext cx="274320" cy="109728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0" cy="64008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37360"/>
            <a:ext cx="914400" cy="64008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058400" y="4846320"/>
            <a:ext cx="1097280" cy="27432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5120640"/>
            <a:ext cx="548640" cy="64008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4846320"/>
            <a:ext cx="457200" cy="109728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0" y="5760720"/>
            <a:ext cx="1005840" cy="18288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86868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65960" y="59436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69164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2240280" y="169164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25880" y="233172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12680" y="507492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48006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57150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67160" y="589788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B29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82996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0" y="29718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7947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guidance. Open to questions and academic evaluation.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SHARMA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0" y="5074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Intern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0" y="536752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Kodacy • IILM University, Greater Noida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1486</Words>
  <Application>Microsoft Office PowerPoint</Application>
  <PresentationFormat>Custom</PresentationFormat>
  <Paragraphs>320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2</cp:revision>
  <dcterms:created xsi:type="dcterms:W3CDTF">2026-09-09T19:29:02Z</dcterms:created>
  <dcterms:modified xsi:type="dcterms:W3CDTF">2026-09-10T07:36:27Z</dcterms:modified>
</cp:coreProperties>
</file>